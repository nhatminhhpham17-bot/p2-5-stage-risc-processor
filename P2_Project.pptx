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5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62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4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9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2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5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9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2132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6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9942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3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44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48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139B-4EC3-4F95-B970-B219C441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FF35F-9353-40CB-BD6B-5CE57EAD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292D0-F4B6-403D-9B87-D33693C2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761EE-A22A-4B3C-BC3C-83076089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AE40E-AE37-4EEE-845A-1492D318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2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92F2A-A20C-40D3-8160-01F8DE4E14C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412543-2DC7-4EFB-B60E-901A9D918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9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AB56-75A3-4D05-A92B-22CF2F4C1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P3 Project: 8-bit RISC Processor Core (5-Stage Pipeline)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E689F-5B7B-4AC8-AFA7-763E671F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14123" cy="1096899"/>
          </a:xfrm>
        </p:spPr>
        <p:txBody>
          <a:bodyPr>
            <a:noAutofit/>
          </a:bodyPr>
          <a:lstStyle/>
          <a:p>
            <a:r>
              <a:rPr lang="en-US" sz="1600" dirty="0"/>
              <a:t>Custom Upgrades: Early ID-Stage JMP, 4-Bit Status Flags (Z, C, N, V) &amp; Full Hazard Unit</a:t>
            </a:r>
          </a:p>
          <a:p>
            <a:r>
              <a:rPr lang="en-US" sz="1600" dirty="0"/>
              <a:t>Student Name: Pham Xuan </a:t>
            </a:r>
            <a:r>
              <a:rPr lang="en-US" sz="1600" dirty="0" err="1"/>
              <a:t>Nhat</a:t>
            </a:r>
            <a:r>
              <a:rPr lang="en-US" sz="1600" dirty="0"/>
              <a:t> Minh</a:t>
            </a:r>
          </a:p>
          <a:p>
            <a:r>
              <a:rPr lang="en-US" sz="1600" dirty="0"/>
              <a:t>Roll Number: HE200288</a:t>
            </a:r>
          </a:p>
          <a:p>
            <a:r>
              <a:rPr lang="en-US" sz="1600" dirty="0" err="1"/>
              <a:t>Vivado</a:t>
            </a:r>
            <a:r>
              <a:rPr lang="en-US" sz="1600" dirty="0"/>
              <a:t> Version: 2026.1</a:t>
            </a:r>
          </a:p>
        </p:txBody>
      </p:sp>
    </p:spTree>
    <p:extLst>
      <p:ext uri="{BB962C8B-B14F-4D97-AF65-F5344CB8AC3E}">
        <p14:creationId xmlns:p14="http://schemas.microsoft.com/office/powerpoint/2010/main" val="350696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7A27-F945-40DF-A439-DDD484FC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 &amp; 5-Stage Datapath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20325-2767-4B02-9585-59311A99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72" y="5444065"/>
            <a:ext cx="10481734" cy="1413935"/>
          </a:xfrm>
        </p:spPr>
        <p:txBody>
          <a:bodyPr>
            <a:normAutofit/>
          </a:bodyPr>
          <a:lstStyle/>
          <a:p>
            <a:r>
              <a:rPr lang="en-US" sz="1300" dirty="0"/>
              <a:t>Modular Architecture: Top module 'risc8_5stage_core' instantiates 6 independent leaf modules (</a:t>
            </a:r>
            <a:r>
              <a:rPr lang="en-US" sz="1300" dirty="0" err="1"/>
              <a:t>imem</a:t>
            </a:r>
            <a:r>
              <a:rPr lang="en-US" sz="1300" dirty="0"/>
              <a:t>, </a:t>
            </a:r>
            <a:r>
              <a:rPr lang="en-US" sz="1300" dirty="0" err="1"/>
              <a:t>control_unit</a:t>
            </a:r>
            <a:r>
              <a:rPr lang="en-US" sz="1300" dirty="0"/>
              <a:t>, </a:t>
            </a:r>
            <a:r>
              <a:rPr lang="en-US" sz="1300" dirty="0" err="1"/>
              <a:t>regfile</a:t>
            </a:r>
            <a:r>
              <a:rPr lang="en-US" sz="1300" dirty="0"/>
              <a:t>, </a:t>
            </a:r>
            <a:r>
              <a:rPr lang="en-US" sz="1300" dirty="0" err="1"/>
              <a:t>hazard_unit</a:t>
            </a:r>
            <a:r>
              <a:rPr lang="en-US" sz="1300" dirty="0"/>
              <a:t>, </a:t>
            </a:r>
            <a:r>
              <a:rPr lang="en-US" sz="1300" dirty="0" err="1"/>
              <a:t>alu</a:t>
            </a:r>
            <a:r>
              <a:rPr lang="en-US" sz="1300" dirty="0"/>
              <a:t>, </a:t>
            </a:r>
            <a:r>
              <a:rPr lang="en-US" sz="1300" dirty="0" err="1"/>
              <a:t>dmem</a:t>
            </a:r>
            <a:r>
              <a:rPr lang="en-US" sz="1300" dirty="0"/>
              <a:t>).</a:t>
            </a:r>
          </a:p>
          <a:p>
            <a:r>
              <a:rPr lang="en-US" sz="1300" dirty="0"/>
              <a:t>5-Stage Pipeline: IF (Fetch) -&gt; ID (Decode) -&gt; EX (Execute) -&gt; MEM (Memory) -&gt; WB (Write-Back).</a:t>
            </a:r>
          </a:p>
          <a:p>
            <a:r>
              <a:rPr lang="en-US" sz="1300" dirty="0"/>
              <a:t>Core Specs: 16-bit fixed ISA (16 instructions), 8-bit data width, 8 general-purpose registers (R0-R7), Harvard architecture.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ACE46-F78C-4668-9326-4D88F128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67" y="1838557"/>
            <a:ext cx="5825066" cy="3522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D6A4E-B3E1-4E53-B00A-736CDA2BE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932" y="1838557"/>
            <a:ext cx="3019641" cy="318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20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3C7C-8966-4201-B00F-8F6DE098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Paradigm &amp; ISA Encoding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7771D-D418-4EC7-AE62-D6B40E284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580" y="5367866"/>
            <a:ext cx="9119820" cy="1384694"/>
          </a:xfrm>
        </p:spPr>
        <p:txBody>
          <a:bodyPr>
            <a:normAutofit/>
          </a:bodyPr>
          <a:lstStyle/>
          <a:p>
            <a:r>
              <a:rPr lang="en-US" sz="1400" dirty="0"/>
              <a:t>Pipeline Overlap: Up to 5 instructions in flight simultaneously; ideal throughput of 1 instruction per cycle.</a:t>
            </a:r>
          </a:p>
          <a:p>
            <a:r>
              <a:rPr lang="en-US" sz="1400" dirty="0"/>
              <a:t>4 Instruction Formats: R-type (ALU 3-reg), R1-type (Shift, LD/ST), I-type (LDI, ADDI), and J-type (JMP, BZ, BNZ).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957DF-899F-4942-9940-306AB702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6" y="2046014"/>
            <a:ext cx="5649098" cy="2041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00418-AFC6-4FDD-81EC-8A156A3A5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03" y="1725593"/>
            <a:ext cx="5694397" cy="29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06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051-3C3D-418B-850A-05A66FAB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Hazard Resolution (Forwarding, Bypass &amp; Stall)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423B5-4719-4FD0-91AD-55A64729F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467" y="5213257"/>
            <a:ext cx="10346266" cy="1450010"/>
          </a:xfrm>
        </p:spPr>
        <p:txBody>
          <a:bodyPr>
            <a:normAutofit/>
          </a:bodyPr>
          <a:lstStyle/>
          <a:p>
            <a:r>
              <a:rPr lang="en-US" sz="1400" dirty="0"/>
              <a:t>Data Forwarding (0-Cycle Penalty): Routes results from EX/MEM and MEM/WB directly back to EX inputs, gated by </a:t>
            </a:r>
            <a:r>
              <a:rPr lang="en-US" sz="1400" dirty="0" err="1"/>
              <a:t>uses_a</a:t>
            </a:r>
            <a:r>
              <a:rPr lang="en-US" sz="1400" dirty="0"/>
              <a:t> / </a:t>
            </a:r>
            <a:r>
              <a:rPr lang="en-US" sz="1400" dirty="0" err="1"/>
              <a:t>uses_b</a:t>
            </a:r>
            <a:r>
              <a:rPr lang="en-US" sz="1400" dirty="0"/>
              <a:t>.</a:t>
            </a:r>
          </a:p>
          <a:p>
            <a:r>
              <a:rPr lang="en-US" sz="1400" dirty="0"/>
              <a:t>Write-Through Register Bypass: Solves distance-3 RAW hazards inside </a:t>
            </a:r>
            <a:r>
              <a:rPr lang="en-US" sz="1400" dirty="0" err="1"/>
              <a:t>regfile.v</a:t>
            </a:r>
            <a:r>
              <a:rPr lang="en-US" sz="1400" dirty="0"/>
              <a:t> within the same clock cycle.</a:t>
            </a:r>
          </a:p>
          <a:p>
            <a:r>
              <a:rPr lang="en-US" sz="1400" dirty="0"/>
              <a:t>Load-Use Hazard (1-Cycle Stall): Freezes PC and IF/ID while injecting a bubble into ID/EX when LD is immediately followed by a dependent instruction.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7048A-EEAD-4921-AB3B-C384B123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3" y="2622944"/>
            <a:ext cx="5997801" cy="1897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9CC51F-5F52-47C6-BF13-DC84F3F2B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535" y="2622944"/>
            <a:ext cx="5680078" cy="189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1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589F-AAEB-4104-B845-C36D5878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Highlight: Custom Hardware Upgrades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F7B6-0DEA-479C-9C68-60A462B3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1" y="5071533"/>
            <a:ext cx="8983132" cy="1447800"/>
          </a:xfrm>
        </p:spPr>
        <p:txBody>
          <a:bodyPr>
            <a:normAutofit fontScale="47500" lnSpcReduction="20000"/>
          </a:bodyPr>
          <a:lstStyle/>
          <a:p>
            <a:r>
              <a:rPr lang="en-US" sz="2500" dirty="0"/>
              <a:t>Upgrade 1 - Early Unconditional Jump (JMP in ID Stage): Relocated JMP resolution from EX to ID (</a:t>
            </a:r>
            <a:r>
              <a:rPr lang="en-US" sz="2500" dirty="0" err="1"/>
              <a:t>id_take_jmp</a:t>
            </a:r>
            <a:r>
              <a:rPr lang="en-US" sz="2500" dirty="0"/>
              <a:t>), cutting branch penalty from 2 cycles down to 1 cycle and reducing total execution time to 50 cycles (CPI: 1.47).</a:t>
            </a:r>
          </a:p>
          <a:p>
            <a:r>
              <a:rPr lang="en-US" sz="2500" dirty="0"/>
              <a:t>Upgrade 2 - 4-Bit Signed Arithmetic Flags (Z, C, N, V): Expanded ALU to compute Negative (N) and 2's complement Overflow (V) flags.</a:t>
            </a:r>
          </a:p>
          <a:p>
            <a:r>
              <a:rPr lang="en-US" sz="2500" dirty="0"/>
              <a:t>Upgrade 3 - Built-in Synthesis ROM: Embedded machine code in </a:t>
            </a:r>
            <a:r>
              <a:rPr lang="en-US" sz="2500" dirty="0" err="1"/>
              <a:t>imem.v</a:t>
            </a:r>
            <a:r>
              <a:rPr lang="en-US" sz="2500" dirty="0"/>
              <a:t> with KEEP_HIERARCHY and DONT_TOUCH attributes.</a:t>
            </a:r>
          </a:p>
          <a:p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E510F-6F9F-4537-B32F-360B07B57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2"/>
          <a:stretch/>
        </p:blipFill>
        <p:spPr>
          <a:xfrm>
            <a:off x="914401" y="1930399"/>
            <a:ext cx="4621548" cy="2997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EBB5EF-25B1-4E7C-B0F4-048D40620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8"/>
          <a:stretch/>
        </p:blipFill>
        <p:spPr>
          <a:xfrm>
            <a:off x="4515651" y="2770678"/>
            <a:ext cx="5778650" cy="7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9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F37D-F866-47B0-AF71-40CD833D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RTL Analysis: Full Elaborated Schematic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7D7E7-F6AE-48A6-8ECE-0FBBC583A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5132390"/>
            <a:ext cx="8596668" cy="1513944"/>
          </a:xfrm>
        </p:spPr>
        <p:txBody>
          <a:bodyPr/>
          <a:lstStyle/>
          <a:p>
            <a:r>
              <a:rPr lang="en-US" dirty="0"/>
              <a:t>RTL Hardware Mapping: Complete 5-stage processor core elaborated in </a:t>
            </a:r>
            <a:r>
              <a:rPr lang="en-US" dirty="0" err="1"/>
              <a:t>Vivado</a:t>
            </a:r>
            <a:r>
              <a:rPr lang="en-US" dirty="0"/>
              <a:t> 2026.1.</a:t>
            </a:r>
          </a:p>
          <a:p>
            <a:r>
              <a:rPr lang="en-US" dirty="0"/>
              <a:t>Modular Boundaries: Clear separation between </a:t>
            </a:r>
            <a:r>
              <a:rPr lang="en-US" dirty="0" err="1"/>
              <a:t>u_imem</a:t>
            </a:r>
            <a:r>
              <a:rPr lang="en-US" dirty="0"/>
              <a:t>, </a:t>
            </a:r>
            <a:r>
              <a:rPr lang="en-US" dirty="0" err="1"/>
              <a:t>u_ctrl</a:t>
            </a:r>
            <a:r>
              <a:rPr lang="en-US" dirty="0"/>
              <a:t>, </a:t>
            </a:r>
            <a:r>
              <a:rPr lang="en-US" dirty="0" err="1"/>
              <a:t>u_rf</a:t>
            </a:r>
            <a:r>
              <a:rPr lang="en-US" dirty="0"/>
              <a:t>, </a:t>
            </a:r>
            <a:r>
              <a:rPr lang="en-US" dirty="0" err="1"/>
              <a:t>u_hazard</a:t>
            </a:r>
            <a:r>
              <a:rPr lang="en-US" dirty="0"/>
              <a:t>, </a:t>
            </a:r>
            <a:r>
              <a:rPr lang="en-US" dirty="0" err="1"/>
              <a:t>u_alu</a:t>
            </a:r>
            <a:r>
              <a:rPr lang="en-US" dirty="0"/>
              <a:t>, </a:t>
            </a:r>
            <a:r>
              <a:rPr lang="en-US" dirty="0" err="1"/>
              <a:t>u_dmem</a:t>
            </a:r>
            <a:r>
              <a:rPr lang="en-US" dirty="0"/>
              <a:t>, and pipeline registers.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76551-B874-4353-B810-3004B6013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1409701"/>
            <a:ext cx="5833428" cy="351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5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4141-E073-46CF-A716-28C318ABC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5534"/>
            <a:ext cx="8596668" cy="1320800"/>
          </a:xfrm>
        </p:spPr>
        <p:txBody>
          <a:bodyPr/>
          <a:lstStyle/>
          <a:p>
            <a:r>
              <a:rPr lang="en-US" dirty="0"/>
              <a:t>RTL Analysis: Hazard Unit &amp; Early Jump Routing (Zoomed)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52026-BF0B-4F20-8E5F-474C4A261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070" y="5716590"/>
            <a:ext cx="8906932" cy="1320800"/>
          </a:xfrm>
        </p:spPr>
        <p:txBody>
          <a:bodyPr/>
          <a:lstStyle/>
          <a:p>
            <a:r>
              <a:rPr lang="en-US" sz="1400" dirty="0"/>
              <a:t>Forwarding &amp; Stall Generation: Combinational paths from </a:t>
            </a:r>
            <a:r>
              <a:rPr lang="en-US" sz="1400" dirty="0" err="1"/>
              <a:t>u_hazard</a:t>
            </a:r>
            <a:r>
              <a:rPr lang="en-US" sz="1400" dirty="0"/>
              <a:t> driving </a:t>
            </a:r>
            <a:r>
              <a:rPr lang="en-US" sz="1400" dirty="0" err="1"/>
              <a:t>fwd_a_sel</a:t>
            </a:r>
            <a:r>
              <a:rPr lang="en-US" sz="1400" dirty="0"/>
              <a:t>, </a:t>
            </a:r>
            <a:r>
              <a:rPr lang="en-US" sz="1400" dirty="0" err="1"/>
              <a:t>fwd_b_sel</a:t>
            </a:r>
            <a:r>
              <a:rPr lang="en-US" sz="1400" dirty="0"/>
              <a:t>, and stall.</a:t>
            </a:r>
          </a:p>
          <a:p>
            <a:r>
              <a:rPr lang="en-US" sz="1400" dirty="0"/>
              <a:t>Dual Flush Control: </a:t>
            </a:r>
            <a:r>
              <a:rPr lang="en-US" sz="1400" dirty="0" err="1"/>
              <a:t>take_branch</a:t>
            </a:r>
            <a:r>
              <a:rPr lang="en-US" sz="1400" dirty="0"/>
              <a:t> (EX stage) and </a:t>
            </a:r>
            <a:r>
              <a:rPr lang="en-US" sz="1400" dirty="0" err="1"/>
              <a:t>id_take_jmp</a:t>
            </a:r>
            <a:r>
              <a:rPr lang="en-US" sz="1400" dirty="0"/>
              <a:t> (ID stage) controlling pipeline flush logic.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B990A-157E-46B1-B716-8C3E8AB8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7" y="1506540"/>
            <a:ext cx="5166224" cy="4013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43555-1670-4EF0-ABE5-61A20C3D2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11" y="1386265"/>
            <a:ext cx="5598315" cy="413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9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AB3E-2967-45C9-BFB5-E301CA82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Verification &amp; Self-Checking Testbench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E668A-3D4C-4BAD-8D5F-0A17CEA24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1" y="5582015"/>
            <a:ext cx="8444268" cy="120914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Cycle-Accurate Pipeline Trace: Monitors all 5 stages, flags, stalls, flushes, and forwards every clock edge.</a:t>
            </a:r>
          </a:p>
          <a:p>
            <a:r>
              <a:rPr lang="en-US" dirty="0"/>
              <a:t>10 Automated Self-Checks: Validates R1-R7, MEM[0x20] = 0x0F, 4-bit flags (1100), and Early JMP execution.</a:t>
            </a:r>
          </a:p>
          <a:p>
            <a:r>
              <a:rPr lang="en-US" dirty="0"/>
              <a:t>Performance Improvement: Completed 34 instructions in 50 cycles (CPI = 1.47, down from baseline 1.50).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C84B2-8A86-4160-9751-F64103CF00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2"/>
          <a:stretch/>
        </p:blipFill>
        <p:spPr>
          <a:xfrm>
            <a:off x="5758494" y="2563297"/>
            <a:ext cx="6290734" cy="2171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5ACA98-1483-4D2B-818B-207E583AD2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76"/>
          <a:stretch/>
        </p:blipFill>
        <p:spPr>
          <a:xfrm>
            <a:off x="496801" y="1811867"/>
            <a:ext cx="5261693" cy="36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5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0FD0-76E7-4349-9F1B-852728EDF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37" y="118972"/>
            <a:ext cx="6976533" cy="650703"/>
          </a:xfrm>
        </p:spPr>
        <p:txBody>
          <a:bodyPr>
            <a:normAutofit fontScale="90000"/>
          </a:bodyPr>
          <a:lstStyle/>
          <a:p>
            <a:r>
              <a:rPr lang="en-US" dirty="0"/>
              <a:t>Waveform &amp; Pipeline Timing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FC310-6403-454C-900A-EC2D8E187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5538790"/>
            <a:ext cx="8596668" cy="11075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Concurrent Execution: Tracks pc, </a:t>
            </a:r>
            <a:r>
              <a:rPr lang="en-US" dirty="0" err="1"/>
              <a:t>ifid_instr</a:t>
            </a:r>
            <a:r>
              <a:rPr lang="en-US" dirty="0"/>
              <a:t>, </a:t>
            </a:r>
            <a:r>
              <a:rPr lang="en-US" dirty="0" err="1"/>
              <a:t>ex_alu_y</a:t>
            </a:r>
            <a:r>
              <a:rPr lang="en-US" dirty="0"/>
              <a:t>, and write-back bus across 50 clock cycles.</a:t>
            </a:r>
          </a:p>
          <a:p>
            <a:r>
              <a:rPr lang="en-US" dirty="0"/>
              <a:t>Hardware Event Capture: Visual proof of </a:t>
            </a:r>
            <a:r>
              <a:rPr lang="en-US" dirty="0" err="1"/>
              <a:t>fwd_a</a:t>
            </a:r>
            <a:r>
              <a:rPr lang="en-US" dirty="0"/>
              <a:t>/</a:t>
            </a:r>
            <a:r>
              <a:rPr lang="en-US" dirty="0" err="1"/>
              <a:t>b_sel</a:t>
            </a:r>
            <a:r>
              <a:rPr lang="en-US" dirty="0"/>
              <a:t> switching, stall assertion at 435 ns, and </a:t>
            </a:r>
            <a:r>
              <a:rPr lang="en-US" dirty="0" err="1"/>
              <a:t>id_take_jmp</a:t>
            </a:r>
            <a:r>
              <a:rPr lang="en-US" dirty="0"/>
              <a:t> pulse at 465 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3BB79-802A-45EB-B38F-EAF65CCC8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098" y="4574564"/>
            <a:ext cx="6779436" cy="553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DBB5D-6FA0-43CF-BC25-A4D4E5F7C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097" y="769675"/>
            <a:ext cx="6779436" cy="37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8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6AA3-C13F-48F0-99D1-8D028941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23" y="194733"/>
            <a:ext cx="7416799" cy="804333"/>
          </a:xfrm>
        </p:spPr>
        <p:txBody>
          <a:bodyPr>
            <a:normAutofit fontScale="90000"/>
          </a:bodyPr>
          <a:lstStyle/>
          <a:p>
            <a:r>
              <a:rPr lang="en-US"/>
              <a:t>Synthesis &amp; Post-Implementation Hardware Utilization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12AC2-0553-486B-A322-71BCC3BEC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2339" y="5484328"/>
            <a:ext cx="9203267" cy="119221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Logic Resources: 274 Slice LUTs (1.32%) for 8-bit ALU, Hazard/Forwarding </a:t>
            </a:r>
            <a:r>
              <a:rPr lang="en-US" dirty="0" err="1"/>
              <a:t>muxes</a:t>
            </a:r>
            <a:r>
              <a:rPr lang="en-US" dirty="0"/>
              <a:t>, Control Unit, and instruction ROM.</a:t>
            </a:r>
          </a:p>
          <a:p>
            <a:r>
              <a:rPr lang="en-US" dirty="0"/>
              <a:t>Memory &amp; Sequential: 32 LUTRAMs (0.33%) for 256x8-bit RAM, and 188 Flip-Flops (0.45%) for registers and pipeline stages.</a:t>
            </a:r>
          </a:p>
          <a:p>
            <a:r>
              <a:rPr lang="en-US" dirty="0"/>
              <a:t>Interfaces: 16 Bonded IOBs (15.09%) and 1 BUFG global clock buffer.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A83651-30FF-4B50-83C8-84F645749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83313"/>
            <a:ext cx="5960533" cy="4116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16904-46CA-4428-BC27-B70D6A961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225" y="2039458"/>
            <a:ext cx="3580180" cy="1632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FBE1A6-F7A9-4B1F-9DF6-24503C563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225" y="3671685"/>
            <a:ext cx="3580180" cy="15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B4D0-5ADF-4B6E-9AC5-1622C5B4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Implementation: Physical Device View &amp; Timing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2C372-EE60-4D34-A083-AC0093183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600" y="5115457"/>
            <a:ext cx="8596668" cy="1497010"/>
          </a:xfrm>
        </p:spPr>
        <p:txBody>
          <a:bodyPr/>
          <a:lstStyle/>
          <a:p>
            <a:r>
              <a:rPr lang="en-US" dirty="0"/>
              <a:t>Silicon Placement: Tightly clustered in the X0Y0 clock region on Artix-7, minimizing routing congestion.</a:t>
            </a:r>
          </a:p>
          <a:p>
            <a:r>
              <a:rPr lang="en-US" dirty="0"/>
              <a:t>100 MHz Timing Closure: Achieved Worst Negative Slack (WNS) = +1.253 ns, TNS = 0.000 ns, and 0 Failing Endpoints (Fmax </a:t>
            </a:r>
            <a:r>
              <a:rPr lang="en-US" dirty="0" err="1"/>
              <a:t>approx</a:t>
            </a:r>
            <a:r>
              <a:rPr lang="en-US" dirty="0"/>
              <a:t> 114.3 MHz).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7B64DF-837C-49F6-8DAF-EADE8A491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27" y="1836410"/>
            <a:ext cx="3912873" cy="3185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5F9FFD-8953-4018-A840-6EDC63A59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84" y="2582332"/>
            <a:ext cx="6830470" cy="169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3D55-37B6-45C5-86F8-50530C5B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Implementation: Power Analysis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A0516-BF11-400A-927C-86A7ED70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4927601"/>
            <a:ext cx="8596668" cy="1852611"/>
          </a:xfrm>
        </p:spPr>
        <p:txBody>
          <a:bodyPr/>
          <a:lstStyle/>
          <a:p>
            <a:r>
              <a:rPr lang="en-US" dirty="0"/>
              <a:t>Ultra-Low Power Profile: 0.073 W (73 </a:t>
            </a:r>
            <a:r>
              <a:rPr lang="en-US" dirty="0" err="1"/>
              <a:t>mW</a:t>
            </a:r>
            <a:r>
              <a:rPr lang="en-US" dirty="0"/>
              <a:t>) Total On-Chip Power at 100 </a:t>
            </a:r>
            <a:r>
              <a:rPr lang="en-US" dirty="0" err="1"/>
              <a:t>MHz.</a:t>
            </a:r>
            <a:endParaRPr lang="en-US" dirty="0"/>
          </a:p>
          <a:p>
            <a:r>
              <a:rPr lang="en-US" dirty="0"/>
              <a:t>Breakdown: 0.070 W Device Static (96%) and only 0.003 W (3 </a:t>
            </a:r>
            <a:r>
              <a:rPr lang="en-US" dirty="0" err="1"/>
              <a:t>mW</a:t>
            </a:r>
            <a:r>
              <a:rPr lang="en-US" dirty="0"/>
              <a:t>) Dynamic Power.</a:t>
            </a:r>
          </a:p>
          <a:p>
            <a:r>
              <a:rPr lang="en-US" dirty="0"/>
              <a:t>Thermal Stability: Junction temperature at a cool 25.4 degree Celsius with a 59.6 C thermal margin.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53367-1A7F-444E-85D6-862EE603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3" y="1643501"/>
            <a:ext cx="7131261" cy="30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1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5614-61B5-4741-8544-4F09070A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B8F9D-DBA9-4EFE-9513-37C44337A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Full ASIC/FPGA Flow Mastery: Specification -&gt; 5-Stage RTL Design -&gt; Self-Checking Verification -&gt; 100 MHz Timing Closure -&gt; Physical Implementation.</a:t>
            </a:r>
          </a:p>
          <a:p>
            <a:r>
              <a:rPr lang="en-US"/>
              <a:t>Key Achievements: Zero hazard bugs, CPI reduced to 1.47 via Early Jump, full signed flag support (Z, C, N, V), and +1.253 ns WNS on Artix-7.</a:t>
            </a:r>
          </a:p>
        </p:txBody>
      </p:sp>
    </p:spTree>
    <p:extLst>
      <p:ext uri="{BB962C8B-B14F-4D97-AF65-F5344CB8AC3E}">
        <p14:creationId xmlns:p14="http://schemas.microsoft.com/office/powerpoint/2010/main" val="27440367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504</TotalTime>
  <Words>891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P3 Project: 8-bit RISC Processor Core (5-Stage Pipeline)</vt:lpstr>
      <vt:lpstr>Project Overview &amp; 5-Stage Datapath Architecture</vt:lpstr>
      <vt:lpstr>Execution Paradigm &amp; ISA Encoding</vt:lpstr>
      <vt:lpstr>Hardware Hazard Resolution (Forwarding, Bypass &amp; Stall)</vt:lpstr>
      <vt:lpstr>Architecture Highlight: Custom Hardware Upgrades</vt:lpstr>
      <vt:lpstr>RTL Analysis: Full Elaborated Schematic</vt:lpstr>
      <vt:lpstr>RTL Analysis: Hazard Unit &amp; Early Jump Routing (Zoomed)</vt:lpstr>
      <vt:lpstr>Automated Verification &amp; Self-Checking Testbench</vt:lpstr>
      <vt:lpstr>Waveform &amp; Pipeline Timing Analysis</vt:lpstr>
      <vt:lpstr>Synthesis &amp; Post-Implementation Hardware Utilization</vt:lpstr>
      <vt:lpstr>Implementation: Physical Device View &amp; Timing Summary</vt:lpstr>
      <vt:lpstr>Implementation: Power Analysis Report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Project: 8-bit RISC Processor Core (5-Stage Pipeline)</dc:title>
  <dc:creator>Minh Phạm</dc:creator>
  <cp:lastModifiedBy>Minh Phạm</cp:lastModifiedBy>
  <cp:revision>8</cp:revision>
  <dcterms:created xsi:type="dcterms:W3CDTF">2026-10-23T04:25:46Z</dcterms:created>
  <dcterms:modified xsi:type="dcterms:W3CDTF">2026-10-23T14:27:13Z</dcterms:modified>
</cp:coreProperties>
</file>